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Cases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6B7A99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 21</c:v>
                  </c:pt>
                  <c:pt idx="1">
                    <c:v>Feb 21</c:v>
                  </c:pt>
                  <c:pt idx="2">
                    <c:v>Mar 21</c:v>
                  </c:pt>
                  <c:pt idx="3">
                    <c:v>Apr 21</c:v>
                  </c:pt>
                  <c:pt idx="4">
                    <c:v>May 21</c:v>
                  </c:pt>
                  <c:pt idx="5">
                    <c:v>Jun 21</c:v>
                  </c:pt>
                  <c:pt idx="6">
                    <c:v>Jul 21</c:v>
                  </c:pt>
                  <c:pt idx="7">
                    <c:v>Aug 21</c:v>
                  </c:pt>
                  <c:pt idx="8">
                    <c:v>Sep 21</c:v>
                  </c:pt>
                  <c:pt idx="9">
                    <c:v>Oct 21</c:v>
                  </c:pt>
                  <c:pt idx="10">
                    <c:v>Nov 21</c:v>
                  </c:pt>
                  <c:pt idx="11">
                    <c:v>Dec 21</c:v>
                  </c:pt>
                  <c:pt idx="12">
                    <c:v>Jan 22</c:v>
                  </c:pt>
                  <c:pt idx="13">
                    <c:v>Feb 22</c:v>
                  </c:pt>
                  <c:pt idx="14">
                    <c:v>Mar 22</c:v>
                  </c:pt>
                  <c:pt idx="15">
                    <c:v>Apr 22</c:v>
                  </c:pt>
                  <c:pt idx="16">
                    <c:v>May 22</c:v>
                  </c:pt>
                  <c:pt idx="17">
                    <c:v>Jun 22</c:v>
                  </c:pt>
                  <c:pt idx="18">
                    <c:v>Jul 22</c:v>
                  </c:pt>
                  <c:pt idx="19">
                    <c:v>Aug 22</c:v>
                  </c:pt>
                  <c:pt idx="20">
                    <c:v>Sep 22</c:v>
                  </c:pt>
                  <c:pt idx="21">
                    <c:v>Oct 22</c:v>
                  </c:pt>
                  <c:pt idx="22">
                    <c:v>Nov 22</c:v>
                  </c:pt>
                  <c:pt idx="23">
                    <c:v>Dec 22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9141367</c:v>
                </c:pt>
                <c:pt idx="1">
                  <c:v>11184745</c:v>
                </c:pt>
                <c:pt idx="2">
                  <c:v>7615915</c:v>
                </c:pt>
                <c:pt idx="3">
                  <c:v>2999070</c:v>
                </c:pt>
                <c:pt idx="4">
                  <c:v>3303363</c:v>
                </c:pt>
                <c:pt idx="5">
                  <c:v>6210908</c:v>
                </c:pt>
                <c:pt idx="6">
                  <c:v>10758968</c:v>
                </c:pt>
                <c:pt idx="7">
                  <c:v>18488192</c:v>
                </c:pt>
                <c:pt idx="8">
                  <c:v>14477360</c:v>
                </c:pt>
                <c:pt idx="9">
                  <c:v>16224953</c:v>
                </c:pt>
                <c:pt idx="10">
                  <c:v>17594767</c:v>
                </c:pt>
                <c:pt idx="11">
                  <c:v>23501986</c:v>
                </c:pt>
                <c:pt idx="12">
                  <c:v>26449354</c:v>
                </c:pt>
                <c:pt idx="13">
                  <c:v>10956675</c:v>
                </c:pt>
                <c:pt idx="14">
                  <c:v>4962147</c:v>
                </c:pt>
                <c:pt idx="15">
                  <c:v>4358585</c:v>
                </c:pt>
                <c:pt idx="16">
                  <c:v>9290221</c:v>
                </c:pt>
                <c:pt idx="17">
                  <c:v>10529058</c:v>
                </c:pt>
                <c:pt idx="18">
                  <c:v>12426050</c:v>
                </c:pt>
                <c:pt idx="19">
                  <c:v>6422835</c:v>
                </c:pt>
                <c:pt idx="20">
                  <c:v>3123163</c:v>
                </c:pt>
                <c:pt idx="21">
                  <c:v>1337141</c:v>
                </c:pt>
                <c:pt idx="22">
                  <c:v>290215</c:v>
                </c:pt>
                <c:pt idx="23">
                  <c:v>184836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6B7A99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Cases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,&quot;M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India</c:v>
                  </c:pt>
                  <c:pt idx="1">
                    <c:v>China</c:v>
                  </c:pt>
                  <c:pt idx="2">
                    <c:v>Indonesia</c:v>
                  </c:pt>
                  <c:pt idx="3">
                    <c:v>Nigeria</c:v>
                  </c:pt>
                  <c:pt idx="4">
                    <c:v>United States</c:v>
                  </c:pt>
                  <c:pt idx="5">
                    <c:v>Brazil</c:v>
                  </c:pt>
                  <c:pt idx="6">
                    <c:v>Pakistan</c:v>
                  </c:pt>
                  <c:pt idx="7">
                    <c:v>Russia</c:v>
                  </c:pt>
                  <c:pt idx="8">
                    <c:v>Bangladesh</c:v>
                  </c:pt>
                  <c:pt idx="9">
                    <c:v>Mexico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71809867</c:v>
                </c:pt>
                <c:pt idx="1">
                  <c:v>37782957</c:v>
                </c:pt>
                <c:pt idx="2">
                  <c:v>16767313</c:v>
                </c:pt>
                <c:pt idx="3">
                  <c:v>9575119</c:v>
                </c:pt>
                <c:pt idx="4">
                  <c:v>8276330</c:v>
                </c:pt>
                <c:pt idx="5">
                  <c:v>7209201</c:v>
                </c:pt>
                <c:pt idx="6">
                  <c:v>6968503</c:v>
                </c:pt>
                <c:pt idx="7">
                  <c:v>6240850</c:v>
                </c:pt>
                <c:pt idx="8">
                  <c:v>5586251</c:v>
                </c:pt>
                <c:pt idx="9">
                  <c:v>4897377</c:v>
                </c:pt>
              </c:numCache>
            </c:numRef>
          </c:val>
        </c:ser>
        <c:dLbls>
          <c:numFmt formatCode="#,##0,,&quot;M&quot;" sourceLinked="0"/>
          <c:txPr>
            <a:bodyPr/>
            <a:lstStyle/>
            <a:p>
              <a:pPr>
                <a:defRPr b="0" i="0" strike="noStrike" sz="8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Deaths</c:v>
                </c:pt>
              </c:strCache>
            </c:strRef>
          </c:tx>
          <c:spPr>
            <a:solidFill>
              <a:srgbClr val="3B4B9E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India</c:v>
                  </c:pt>
                  <c:pt idx="1">
                    <c:v>Indonesia</c:v>
                  </c:pt>
                  <c:pt idx="2">
                    <c:v>Nigeria</c:v>
                  </c:pt>
                  <c:pt idx="3">
                    <c:v>Russia</c:v>
                  </c:pt>
                  <c:pt idx="4">
                    <c:v>China</c:v>
                  </c:pt>
                  <c:pt idx="5">
                    <c:v>Pakistan</c:v>
                  </c:pt>
                  <c:pt idx="6">
                    <c:v>Brazil</c:v>
                  </c:pt>
                  <c:pt idx="7">
                    <c:v>Mexico</c:v>
                  </c:pt>
                  <c:pt idx="8">
                    <c:v>Bangladesh</c:v>
                  </c:pt>
                  <c:pt idx="9">
                    <c:v>United States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387329</c:v>
                </c:pt>
                <c:pt idx="1">
                  <c:v>115930</c:v>
                </c:pt>
                <c:pt idx="2">
                  <c:v>81861</c:v>
                </c:pt>
                <c:pt idx="3">
                  <c:v>64301</c:v>
                </c:pt>
                <c:pt idx="4">
                  <c:v>58895</c:v>
                </c:pt>
                <c:pt idx="5">
                  <c:v>53366</c:v>
                </c:pt>
                <c:pt idx="6">
                  <c:v>46969</c:v>
                </c:pt>
                <c:pt idx="7">
                  <c:v>41360</c:v>
                </c:pt>
                <c:pt idx="8">
                  <c:v>36312</c:v>
                </c:pt>
                <c:pt idx="9">
                  <c:v>35611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0" i="0" strike="noStrike" sz="8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 Admissions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India</c:v>
                  </c:pt>
                  <c:pt idx="1">
                    <c:v>China</c:v>
                  </c:pt>
                  <c:pt idx="2">
                    <c:v>Indonesia</c:v>
                  </c:pt>
                  <c:pt idx="3">
                    <c:v>Pakistan</c:v>
                  </c:pt>
                  <c:pt idx="4">
                    <c:v>Nigeria</c:v>
                  </c:pt>
                  <c:pt idx="5">
                    <c:v>Brazil</c:v>
                  </c:pt>
                  <c:pt idx="6">
                    <c:v>Russia</c:v>
                  </c:pt>
                  <c:pt idx="7">
                    <c:v>Mexico</c:v>
                  </c:pt>
                  <c:pt idx="8">
                    <c:v>United States</c:v>
                  </c:pt>
                  <c:pt idx="9">
                    <c:v>Bangladesh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1967234</c:v>
                </c:pt>
                <c:pt idx="1">
                  <c:v>1022503</c:v>
                </c:pt>
                <c:pt idx="2">
                  <c:v>469860</c:v>
                </c:pt>
                <c:pt idx="3">
                  <c:v>287282</c:v>
                </c:pt>
                <c:pt idx="4">
                  <c:v>271039</c:v>
                </c:pt>
                <c:pt idx="5">
                  <c:v>233415</c:v>
                </c:pt>
                <c:pt idx="6">
                  <c:v>209660</c:v>
                </c:pt>
                <c:pt idx="7">
                  <c:v>192683</c:v>
                </c:pt>
                <c:pt idx="8">
                  <c:v>168331</c:v>
                </c:pt>
                <c:pt idx="9">
                  <c:v>143284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ICU Admissions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India</c:v>
                  </c:pt>
                  <c:pt idx="1">
                    <c:v>China</c:v>
                  </c:pt>
                  <c:pt idx="2">
                    <c:v>Indonesia</c:v>
                  </c:pt>
                  <c:pt idx="3">
                    <c:v>Pakistan</c:v>
                  </c:pt>
                  <c:pt idx="4">
                    <c:v>Nigeria</c:v>
                  </c:pt>
                  <c:pt idx="5">
                    <c:v>Brazil</c:v>
                  </c:pt>
                  <c:pt idx="6">
                    <c:v>Russia</c:v>
                  </c:pt>
                  <c:pt idx="7">
                    <c:v>Mexico</c:v>
                  </c:pt>
                  <c:pt idx="8">
                    <c:v>United States</c:v>
                  </c:pt>
                  <c:pt idx="9">
                    <c:v>Bangladesh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473374</c:v>
                </c:pt>
                <c:pt idx="1">
                  <c:v>240055</c:v>
                </c:pt>
                <c:pt idx="2">
                  <c:v>113239</c:v>
                </c:pt>
                <c:pt idx="3">
                  <c:v>65970</c:v>
                </c:pt>
                <c:pt idx="4">
                  <c:v>65643</c:v>
                </c:pt>
                <c:pt idx="5">
                  <c:v>54836</c:v>
                </c:pt>
                <c:pt idx="6">
                  <c:v>46854</c:v>
                </c:pt>
                <c:pt idx="7">
                  <c:v>44667</c:v>
                </c:pt>
                <c:pt idx="8">
                  <c:v>38553</c:v>
                </c:pt>
                <c:pt idx="9">
                  <c:v>32192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A9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New Cases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3B4B9E"/>
              </a:solidFill>
              <a:effectLst/>
            </c:spPr>
          </c:dPt>
          <c:dPt>
            <c:idx val="2"/>
            <c:bubble3D val="0"/>
            <c:spPr>
              <a:solidFill>
                <a:srgbClr val="7C93D9"/>
              </a:solidFill>
              <a:effectLst/>
            </c:spPr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70310203</c:v>
                </c:pt>
                <c:pt idx="1">
                  <c:v>36691205</c:v>
                </c:pt>
                <c:pt idx="2">
                  <c:v>65696568</c:v>
                </c:pt>
                <c:pt idx="3">
                  <c:v>59133898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4304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Deaths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Delta</c:v>
                  </c:pt>
                  <c:pt idx="1">
                    <c:v>Alpha</c:v>
                  </c:pt>
                  <c:pt idx="2">
                    <c:v>Omicron</c:v>
                  </c:pt>
                  <c:pt idx="3">
                    <c:v>Omicron (BA.5)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670399</c:v>
                </c:pt>
                <c:pt idx="1">
                  <c:v>296813</c:v>
                </c:pt>
                <c:pt idx="2">
                  <c:v>196226</c:v>
                </c:pt>
                <c:pt idx="3">
                  <c:v>37641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9F5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900" b="0" i="0" u="none" strike="noStrike">
                <a:solidFill>
                  <a:srgbClr val="FFFFFF"/>
                </a:solidFill>
                <a:latin typeface="Arial"/>
              </a:rPr>
              <a:t>New Cases Over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Cases</c:v>
                </c:pt>
              </c:strCache>
            </c:strRef>
          </c:tx>
          <c:spPr>
            <a:solidFill>
              <a:srgbClr val="CADCFC"/>
            </a:solidFill>
            <a:ln w="254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21/01</c:v>
                  </c:pt>
                  <c:pt idx="1">
                    <c:v>21/02</c:v>
                  </c:pt>
                  <c:pt idx="2">
                    <c:v>21/03</c:v>
                  </c:pt>
                  <c:pt idx="3">
                    <c:v>21/04</c:v>
                  </c:pt>
                  <c:pt idx="4">
                    <c:v>21/05</c:v>
                  </c:pt>
                  <c:pt idx="5">
                    <c:v>21/06</c:v>
                  </c:pt>
                  <c:pt idx="6">
                    <c:v>21/07</c:v>
                  </c:pt>
                  <c:pt idx="7">
                    <c:v>21/08</c:v>
                  </c:pt>
                  <c:pt idx="8">
                    <c:v>21/09</c:v>
                  </c:pt>
                  <c:pt idx="9">
                    <c:v>21/10</c:v>
                  </c:pt>
                  <c:pt idx="10">
                    <c:v>21/11</c:v>
                  </c:pt>
                  <c:pt idx="11">
                    <c:v>21/12</c:v>
                  </c:pt>
                  <c:pt idx="12">
                    <c:v>22/01</c:v>
                  </c:pt>
                  <c:pt idx="13">
                    <c:v>22/02</c:v>
                  </c:pt>
                  <c:pt idx="14">
                    <c:v>22/03</c:v>
                  </c:pt>
                  <c:pt idx="15">
                    <c:v>22/04</c:v>
                  </c:pt>
                  <c:pt idx="16">
                    <c:v>22/05</c:v>
                  </c:pt>
                  <c:pt idx="17">
                    <c:v>22/06</c:v>
                  </c:pt>
                  <c:pt idx="18">
                    <c:v>22/07</c:v>
                  </c:pt>
                  <c:pt idx="19">
                    <c:v>22/08</c:v>
                  </c:pt>
                  <c:pt idx="20">
                    <c:v>22/09</c:v>
                  </c:pt>
                  <c:pt idx="21">
                    <c:v>22/10</c:v>
                  </c:pt>
                  <c:pt idx="22">
                    <c:v>22/11</c:v>
                  </c:pt>
                  <c:pt idx="23">
                    <c:v>22/12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9141367</c:v>
                </c:pt>
                <c:pt idx="1">
                  <c:v>11184745</c:v>
                </c:pt>
                <c:pt idx="2">
                  <c:v>7615915</c:v>
                </c:pt>
                <c:pt idx="3">
                  <c:v>2999070</c:v>
                </c:pt>
                <c:pt idx="4">
                  <c:v>3303363</c:v>
                </c:pt>
                <c:pt idx="5">
                  <c:v>6210908</c:v>
                </c:pt>
                <c:pt idx="6">
                  <c:v>10758968</c:v>
                </c:pt>
                <c:pt idx="7">
                  <c:v>18488192</c:v>
                </c:pt>
                <c:pt idx="8">
                  <c:v>14477360</c:v>
                </c:pt>
                <c:pt idx="9">
                  <c:v>16224953</c:v>
                </c:pt>
                <c:pt idx="10">
                  <c:v>17594767</c:v>
                </c:pt>
                <c:pt idx="11">
                  <c:v>23501986</c:v>
                </c:pt>
                <c:pt idx="12">
                  <c:v>26449354</c:v>
                </c:pt>
                <c:pt idx="13">
                  <c:v>10956675</c:v>
                </c:pt>
                <c:pt idx="14">
                  <c:v>4962147</c:v>
                </c:pt>
                <c:pt idx="15">
                  <c:v>4358585</c:v>
                </c:pt>
                <c:pt idx="16">
                  <c:v>9290221</c:v>
                </c:pt>
                <c:pt idx="17">
                  <c:v>10529058</c:v>
                </c:pt>
                <c:pt idx="18">
                  <c:v>12426050</c:v>
                </c:pt>
                <c:pt idx="19">
                  <c:v>6422835</c:v>
                </c:pt>
                <c:pt idx="20">
                  <c:v>3123163</c:v>
                </c:pt>
                <c:pt idx="21">
                  <c:v>1337141</c:v>
                </c:pt>
                <c:pt idx="22">
                  <c:v>290215</c:v>
                </c:pt>
                <c:pt idx="23">
                  <c:v>184836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68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358"/>
        </a:solidFill>
        <a:ln>
          <a:noFill/>
        </a:ln>
        <a:effectLst/>
      </c:spPr>
    </c:plotArea>
    <c:plotVisOnly val="1"/>
    <c:dispBlanksAs val="span"/>
  </c:chart>
  <c:spPr>
    <a:solidFill>
      <a:srgbClr val="1B2358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800" b="0" i="0" u="none" strike="noStrike">
                <a:solidFill>
                  <a:srgbClr val="FFFFFF"/>
                </a:solidFill>
                <a:latin typeface="Arial"/>
              </a:rPr>
              <a:t>New Cases by Country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Cases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India</c:v>
                  </c:pt>
                  <c:pt idx="1">
                    <c:v>China</c:v>
                  </c:pt>
                  <c:pt idx="2">
                    <c:v>Indonesia</c:v>
                  </c:pt>
                  <c:pt idx="3">
                    <c:v>Nigeria</c:v>
                  </c:pt>
                  <c:pt idx="4">
                    <c:v>United States</c:v>
                  </c:pt>
                  <c:pt idx="5">
                    <c:v>Brazil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71809867</c:v>
                </c:pt>
                <c:pt idx="1">
                  <c:v>37782957</c:v>
                </c:pt>
                <c:pt idx="2">
                  <c:v>16767313</c:v>
                </c:pt>
                <c:pt idx="3">
                  <c:v>9575119</c:v>
                </c:pt>
                <c:pt idx="4">
                  <c:v>8276330</c:v>
                </c:pt>
                <c:pt idx="5">
                  <c:v>7209201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68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358"/>
        </a:solidFill>
        <a:ln>
          <a:noFill/>
        </a:ln>
        <a:effectLst/>
      </c:spPr>
    </c:plotArea>
    <c:plotVisOnly val="1"/>
    <c:dispBlanksAs val="span"/>
  </c:chart>
  <c:spPr>
    <a:solidFill>
      <a:srgbClr val="1B2358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800" b="0" i="0" u="none" strike="noStrike">
                <a:solidFill>
                  <a:srgbClr val="FFFFFF"/>
                </a:solidFill>
                <a:latin typeface="Arial"/>
              </a:rPr>
              <a:t>New Deaths by Country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Deaths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India</c:v>
                  </c:pt>
                  <c:pt idx="1">
                    <c:v>Indonesia</c:v>
                  </c:pt>
                  <c:pt idx="2">
                    <c:v>Nigeria</c:v>
                  </c:pt>
                  <c:pt idx="3">
                    <c:v>Russia</c:v>
                  </c:pt>
                  <c:pt idx="4">
                    <c:v>China</c:v>
                  </c:pt>
                  <c:pt idx="5">
                    <c:v>Pakistan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387329</c:v>
                </c:pt>
                <c:pt idx="1">
                  <c:v>115930</c:v>
                </c:pt>
                <c:pt idx="2">
                  <c:v>81861</c:v>
                </c:pt>
                <c:pt idx="3">
                  <c:v>64301</c:v>
                </c:pt>
                <c:pt idx="4">
                  <c:v>58895</c:v>
                </c:pt>
                <c:pt idx="5">
                  <c:v>53366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68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358"/>
        </a:solidFill>
        <a:ln>
          <a:noFill/>
        </a:ln>
        <a:effectLst/>
      </c:spPr>
    </c:plotArea>
    <c:plotVisOnly val="1"/>
    <c:dispBlanksAs val="span"/>
  </c:chart>
  <c:spPr>
    <a:solidFill>
      <a:srgbClr val="1B2358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7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700" b="0" i="0" u="none" strike="noStrike">
                <a:solidFill>
                  <a:srgbClr val="FFFFFF"/>
                </a:solidFill>
                <a:latin typeface="Arial"/>
              </a:rPr>
              <a:t>Hospital &amp; ICU by Country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India</c:v>
                  </c:pt>
                  <c:pt idx="1">
                    <c:v>China</c:v>
                  </c:pt>
                  <c:pt idx="2">
                    <c:v>Indonesia</c:v>
                  </c:pt>
                  <c:pt idx="3">
                    <c:v>Pakistan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1967234</c:v>
                </c:pt>
                <c:pt idx="1">
                  <c:v>1022503</c:v>
                </c:pt>
                <c:pt idx="2">
                  <c:v>469860</c:v>
                </c:pt>
                <c:pt idx="3">
                  <c:v>287282</c:v>
                </c:pt>
                <c:pt idx="4">
                  <c:v>271039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ICU</c:v>
                </c:pt>
              </c:strCache>
            </c:strRef>
          </c:tx>
          <c:spPr>
            <a:solidFill>
              <a:srgbClr val="7C93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India</c:v>
                  </c:pt>
                  <c:pt idx="1">
                    <c:v>China</c:v>
                  </c:pt>
                  <c:pt idx="2">
                    <c:v>Indonesia</c:v>
                  </c:pt>
                  <c:pt idx="3">
                    <c:v>Pakistan</c:v>
                  </c:pt>
                  <c:pt idx="4">
                    <c:v>Nigeria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473374</c:v>
                </c:pt>
                <c:pt idx="1">
                  <c:v>240055</c:v>
                </c:pt>
                <c:pt idx="2">
                  <c:v>113239</c:v>
                </c:pt>
                <c:pt idx="3">
                  <c:v>65970</c:v>
                </c:pt>
                <c:pt idx="4">
                  <c:v>65643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68"/>
              </a:solidFill>
              <a:prstDash val="solid"/>
              <a:round/>
            </a:ln>
          </c:spPr>
        </c:majorGridlines>
        <c:numFmt formatCode="#,##0,,&quot;M&quot;" sourceLinked="0"/>
        <c:majorTickMark val="out"/>
        <c:minorTickMark val="none"/>
        <c:tickLblPos val="nextTo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358"/>
        </a:solidFill>
        <a:ln>
          <a:noFill/>
        </a:ln>
        <a:effectLst/>
      </c:spPr>
    </c:plotArea>
    <c:plotVisOnly val="1"/>
    <c:dispBlanksAs val="span"/>
  </c:chart>
  <c:spPr>
    <a:solidFill>
      <a:srgbClr val="1B2358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7C93D9"/>
              </a:solidFill>
              <a:effectLst/>
            </c:spPr>
          </c:dPt>
          <c:dPt>
            <c:idx val="2"/>
            <c:bubble3D val="0"/>
            <c:spPr>
              <a:solidFill>
                <a:srgbClr val="3B4B9E"/>
              </a:solidFill>
              <a:effectLst/>
            </c:spPr>
          </c:dPt>
          <c:dPt>
            <c:idx val="3"/>
            <c:bubble3D val="0"/>
            <c:spPr>
              <a:solidFill>
                <a:srgbClr val="4C5B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F16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F16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F16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600" b="0" i="0" u="none" strike="noStrike">
                      <a:solidFill>
                        <a:srgbClr val="0F163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70310203</c:v>
                </c:pt>
                <c:pt idx="1">
                  <c:v>36691205</c:v>
                </c:pt>
                <c:pt idx="2">
                  <c:v>65696568</c:v>
                </c:pt>
                <c:pt idx="3">
                  <c:v>59133898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1B2358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7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700" b="0" i="0" u="none" strike="noStrike">
                <a:solidFill>
                  <a:srgbClr val="FFFFFF"/>
                </a:solidFill>
                <a:latin typeface="Arial"/>
              </a:rPr>
              <a:t>Deaths by Dominant Variant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Deaths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Delta</c:v>
                  </c:pt>
                  <c:pt idx="1">
                    <c:v>Alpha</c:v>
                  </c:pt>
                  <c:pt idx="2">
                    <c:v>Omicron</c:v>
                  </c:pt>
                  <c:pt idx="3">
                    <c:v>Omicron (BA.5)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670399</c:v>
                </c:pt>
                <c:pt idx="1">
                  <c:v>296813</c:v>
                </c:pt>
                <c:pt idx="2">
                  <c:v>196226</c:v>
                </c:pt>
                <c:pt idx="3">
                  <c:v>37641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3568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low"/>
        <c:spPr>
          <a:ln w="12700" cap="flat">
            <a:solidFill>
              <a:srgbClr val="394387"/>
            </a:solidFill>
            <a:prstDash val="solid"/>
            <a:round/>
          </a:ln>
        </c:spPr>
        <c:txPr>
          <a:bodyPr/>
          <a:lstStyle/>
          <a:p>
            <a:pPr>
              <a:defRPr sz="550" b="0" i="0" u="none" strike="noStrike">
                <a:solidFill>
                  <a:srgbClr val="8FA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358"/>
        </a:solidFill>
        <a:ln>
          <a:noFill/>
        </a:ln>
        <a:effectLst/>
      </c:spPr>
    </c:plotArea>
    <c:plotVisOnly val="1"/>
    <c:dispBlanksAs val="span"/>
  </c:chart>
  <c:spPr>
    <a:solidFill>
      <a:srgbClr val="1B235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SQL-based COVID-19 data analytics project built into an interactive Power BI dashboard, using SQL, Databricks, Power BI and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analyses COVID-19 data to identify trends and patterns across countries and time periods, covering 5,160 daily records across 53 country labels from January 2021 to December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objectives that guided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full dataset: 5,160 rows and 14 columns in the Covid_SQL table, including four SQL-derived date fields (Year, Month, Month Name, Quarter, Day Name) built from the Date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real data-quality issues found and fixed in SQL: 103 rows with non-standard date formats, inconsistent country naming across three country pairs, confirmation of zero duplicates and zero missing values, and the SQL-derived date fields used for time-based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technology stack: SQL, Databricks, Power BI and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four KPI totals: 231,831,874 cases, 1,201,079 deaths, 6,528,659 hospital admissions and 1,531,411 ICU admissions. Highlight the derived case-fatality ratio of 0.52% and that ICU admissions represent about a quarter of all hospital admissions.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trend line: cases peaked in Jan 22 at 26.4M during the Omicron wave, with a smaller Delta-driven peak in December 2021, before falling sharply through 2022 to a low of 184.8K in Dec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India leads with 71.8M cases, followed by China and Indonesia, and flag the raw-label naming inconsistency (UK/United Kingdom, USA/United States, South Korea/Republic of Korea) addressed during SQL cleaning.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India also leads on deaths (387.3K), but the ranking shifts compared to cases - China falls to 5th and the United States to 10th - showing case volume and death toll don't move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combined hospital and ICU admissions view: India and China lead both measures, and ICU admissions sit at a fairly consistent ~23.3% of hospital admissions across the top 10 countries.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quarterly breakdown: Q1 holds the largest share of cases (30.3%) due to the January 2022 Omicron surge, while Q2 is consistently the quietest quarter (15.8%).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Delta caused the most deaths (55.8% of the total) despite fewer cases than Omicron, while the Omicron periods combined drove about half of all cases but a much smaller share of deaths - consistent with reported lower Omicron severity.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combined dashboard exactly as it appears in Power BI - all seven visuals and four KPI cards together on one page, each built on the real project data reviewed slide-by-slide.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range of skills demonstrated across the project, each grounded in the specific work done on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project end-to-end, referencing the real findings: the Omicron wave's January 2022 peak and Delta's outsized share of deaths. Close with the tagline: 'Turning raw data into meaningful insights.'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any questions about the SQL, Databricks or Power BI work behind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3.png"/><Relationship Id="rId10" Type="http://schemas.openxmlformats.org/officeDocument/2006/relationships/image" Target="../media/image-4-1.png"/><Relationship Id="rId11" Type="http://schemas.openxmlformats.org/officeDocument/2006/relationships/image" Target="../media/image-4-11.png"/><Relationship Id="rId12" Type="http://schemas.openxmlformats.org/officeDocument/2006/relationships/image" Target="../media/image-4-11.png"/><Relationship Id="rId13" Type="http://schemas.openxmlformats.org/officeDocument/2006/relationships/image" Target="../media/image-4-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4.png"/><Relationship Id="rId9" Type="http://schemas.openxmlformats.org/officeDocument/2006/relationships/image" Target="../media/image-5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5" Type="http://schemas.openxmlformats.org/officeDocument/2006/relationships/chart" Target="/ppt/charts/chart11.xml"/><Relationship Id="rId6" Type="http://schemas.openxmlformats.org/officeDocument/2006/relationships/chart" Target="/ppt/charts/chart12.xm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640080"/>
            <a:ext cx="1371600" cy="1371600"/>
          </a:xfrm>
          <a:prstGeom prst="ellipse">
            <a:avLst/>
          </a:prstGeom>
          <a:solidFill>
            <a:srgbClr val="26317A"/>
          </a:solidFill>
          <a:ln/>
        </p:spPr>
      </p:sp>
      <p:pic>
        <p:nvPicPr>
          <p:cNvPr id="3" name="Image 0" descr="/home/claude/icons/chartlin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76" y="996696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24028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COVID-19 Data Analytics Dashboard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COVID-19 Trends Through Data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4434840"/>
            <a:ext cx="754380" cy="457200"/>
          </a:xfrm>
          <a:prstGeom prst="roundRect">
            <a:avLst>
              <a:gd name="adj" fmla="val 18000"/>
            </a:avLst>
          </a:prstGeom>
          <a:solidFill>
            <a:srgbClr val="2631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434840"/>
            <a:ext cx="75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60220" y="4434840"/>
            <a:ext cx="1618488" cy="457200"/>
          </a:xfrm>
          <a:prstGeom prst="roundRect">
            <a:avLst>
              <a:gd name="adj" fmla="val 18000"/>
            </a:avLst>
          </a:prstGeom>
          <a:solidFill>
            <a:srgbClr val="2631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60220" y="443484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61588" y="4434840"/>
            <a:ext cx="1371600" cy="457200"/>
          </a:xfrm>
          <a:prstGeom prst="roundRect">
            <a:avLst>
              <a:gd name="adj" fmla="val 18000"/>
            </a:avLst>
          </a:prstGeom>
          <a:solidFill>
            <a:srgbClr val="2631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1588" y="4434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116068" y="4434840"/>
            <a:ext cx="1001268" cy="457200"/>
          </a:xfrm>
          <a:prstGeom prst="roundRect">
            <a:avLst>
              <a:gd name="adj" fmla="val 18000"/>
            </a:avLst>
          </a:prstGeom>
          <a:solidFill>
            <a:srgbClr val="26317A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16068" y="4434840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12700">
            <a:solidFill>
              <a:srgbClr val="3C4A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Ethaba Mhlongo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analyses COVID-19 data to uncover trends and patterns across different countries and time periods - turning raw, complex health data into insights that are easy to understand.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39319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EDF1F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1605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turns millions of raw records into clear, decision-ready insights - helping identify how a public health crisis evolved and where its impact was greatest.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0536" y="158849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8040" y="13990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COVID-19 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78040" y="172821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5,160 daily records across 53 country labels, Jan 2021 - Dec 2022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28346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chartlin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536" y="300581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8163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Process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78040" y="314553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transformed with SQL, structured in Databricks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09360" y="4251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icons/bulb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536" y="4423136"/>
            <a:ext cx="316017" cy="31601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42336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178040" y="456285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in an interactive Power BI dashboard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goals guided the analysis from raw data to final dashboard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D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hartli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513" y="209507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0" y="1892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COVID-19 trends over time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D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glob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545" y="209507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76872" y="1892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81144" y="265176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COVID-19 statistics between countries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0144" y="16916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DF1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266176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updow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577" y="209507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61904" y="18928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266176" y="265176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periods of increasing and decreasing cases and deaths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DF1FB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370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percen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513" y="451823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291840" y="4315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896112" y="507492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COVID-19 figures relative to population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25112" y="41148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DF1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370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sear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545" y="451823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76872" y="4315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1"/>
          <p:cNvSpPr/>
          <p:nvPr/>
        </p:nvSpPr>
        <p:spPr>
          <a:xfrm>
            <a:off x="4581144" y="507492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important patterns and trends in the data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010144" y="41148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DF1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266176" y="43708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chartb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3577" y="4518233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661904" y="43159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25"/>
          <p:cNvSpPr/>
          <p:nvPr/>
        </p:nvSpPr>
        <p:spPr>
          <a:xfrm>
            <a:off x="8266176" y="5074920"/>
            <a:ext cx="291693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interactive Power BI dashboard to communicate findings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Covid_SQL table: 5,160 rows x 14 columns, Jan 2021 - Dec 2022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5179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calenda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306" y="1627266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20299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76656" y="24140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 date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52344" y="137160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98648" y="15179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glob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010" y="1627266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0299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880360" y="24140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raw country labels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956048" y="137160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102352" y="15179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lay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714" y="1627266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84064" y="20299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084064" y="24140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population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159752" y="137160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06056" y="15179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chartli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418" y="1627266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7768" y="20299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287768" y="24140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case counts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9363456" y="1371600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509760" y="15179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viru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122" y="1627266"/>
            <a:ext cx="201900" cy="201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491472" y="20299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Deaths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9491472" y="24140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death counts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48640" y="3081528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94944" y="32278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hospital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6" y="3337194"/>
            <a:ext cx="201900" cy="201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" y="37398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76656" y="4123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 impact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2752344" y="3081528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2898648" y="32278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home/claude/icons/clipboar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8010" y="3337194"/>
            <a:ext cx="201900" cy="2019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880360" y="37398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Admissions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2880360" y="4123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of impact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4956048" y="3081528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5102352" y="32278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home/claude/icons/filter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1714" y="3337194"/>
            <a:ext cx="201900" cy="2019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84064" y="37398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Restrictions Level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5084064" y="4123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to Lockdown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7159752" y="3081528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306056" y="32278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8" descr="/home/claude/icons/layers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5418" y="3337194"/>
            <a:ext cx="201900" cy="20190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7287768" y="37398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Variant</a:t>
            </a:r>
            <a:endParaRPr lang="en-US" sz="1150" dirty="0"/>
          </a:p>
        </p:txBody>
      </p:sp>
      <p:sp>
        <p:nvSpPr>
          <p:cNvPr id="48" name="Text 37"/>
          <p:cNvSpPr/>
          <p:nvPr/>
        </p:nvSpPr>
        <p:spPr>
          <a:xfrm>
            <a:off x="7287768" y="4123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 variant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9363456" y="3081528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9509760" y="322783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9" descr="/home/claude/icons/calendar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9122" y="3337194"/>
            <a:ext cx="201900" cy="201900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9491472" y="37398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Month</a:t>
            </a:r>
            <a:endParaRPr lang="en-US" sz="1150" dirty="0"/>
          </a:p>
        </p:txBody>
      </p:sp>
      <p:sp>
        <p:nvSpPr>
          <p:cNvPr id="53" name="Text 41"/>
          <p:cNvSpPr/>
          <p:nvPr/>
        </p:nvSpPr>
        <p:spPr>
          <a:xfrm>
            <a:off x="9491472" y="4123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SQL-derived date parts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548640" y="4791456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55" name="Shape 43"/>
          <p:cNvSpPr/>
          <p:nvPr/>
        </p:nvSpPr>
        <p:spPr>
          <a:xfrm>
            <a:off x="694944" y="49377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6" name="Image 10" descr="/home/claude/icons/table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306" y="5047122"/>
            <a:ext cx="201900" cy="20190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76656" y="544982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Name</a:t>
            </a:r>
            <a:endParaRPr lang="en-US" sz="1150" dirty="0"/>
          </a:p>
        </p:txBody>
      </p:sp>
      <p:sp>
        <p:nvSpPr>
          <p:cNvPr id="58" name="Text 45"/>
          <p:cNvSpPr/>
          <p:nvPr/>
        </p:nvSpPr>
        <p:spPr>
          <a:xfrm>
            <a:off x="676656" y="5833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SQL-derived date part</a:t>
            </a:r>
            <a:endParaRPr lang="en-US" sz="900" dirty="0"/>
          </a:p>
        </p:txBody>
      </p:sp>
      <p:sp>
        <p:nvSpPr>
          <p:cNvPr id="59" name="Shape 46"/>
          <p:cNvSpPr/>
          <p:nvPr/>
        </p:nvSpPr>
        <p:spPr>
          <a:xfrm>
            <a:off x="2752344" y="4791456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60" name="Shape 47"/>
          <p:cNvSpPr/>
          <p:nvPr/>
        </p:nvSpPr>
        <p:spPr>
          <a:xfrm>
            <a:off x="2898648" y="49377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1" name="Image 11" descr="/home/claude/icons/table_FFFF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08010" y="5047122"/>
            <a:ext cx="201900" cy="20190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2880360" y="544982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1150" dirty="0"/>
          </a:p>
        </p:txBody>
      </p:sp>
      <p:sp>
        <p:nvSpPr>
          <p:cNvPr id="63" name="Text 49"/>
          <p:cNvSpPr/>
          <p:nvPr/>
        </p:nvSpPr>
        <p:spPr>
          <a:xfrm>
            <a:off x="2880360" y="5833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SQL-derived date part</a:t>
            </a:r>
            <a:endParaRPr lang="en-US" sz="900" dirty="0"/>
          </a:p>
        </p:txBody>
      </p:sp>
      <p:sp>
        <p:nvSpPr>
          <p:cNvPr id="64" name="Shape 50"/>
          <p:cNvSpPr/>
          <p:nvPr/>
        </p:nvSpPr>
        <p:spPr>
          <a:xfrm>
            <a:off x="4956048" y="4791456"/>
            <a:ext cx="208483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65" name="Shape 51"/>
          <p:cNvSpPr/>
          <p:nvPr/>
        </p:nvSpPr>
        <p:spPr>
          <a:xfrm>
            <a:off x="5102352" y="49377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6" name="Image 12" descr="/home/claude/icons/calendar_FFFFFF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1714" y="5047122"/>
            <a:ext cx="201900" cy="201900"/>
          </a:xfrm>
          <a:prstGeom prst="rect">
            <a:avLst/>
          </a:prstGeom>
        </p:spPr>
      </p:pic>
      <p:sp>
        <p:nvSpPr>
          <p:cNvPr id="67" name="Text 52"/>
          <p:cNvSpPr/>
          <p:nvPr/>
        </p:nvSpPr>
        <p:spPr>
          <a:xfrm>
            <a:off x="5084064" y="544982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Name</a:t>
            </a:r>
            <a:endParaRPr lang="en-US" sz="1150" dirty="0"/>
          </a:p>
        </p:txBody>
      </p:sp>
      <p:sp>
        <p:nvSpPr>
          <p:cNvPr id="68" name="Text 53"/>
          <p:cNvSpPr/>
          <p:nvPr/>
        </p:nvSpPr>
        <p:spPr>
          <a:xfrm>
            <a:off x="5084064" y="58338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SQL-derived date part</a:t>
            </a:r>
            <a:endParaRPr lang="en-US" sz="900" dirty="0"/>
          </a:p>
        </p:txBody>
      </p:sp>
      <p:sp>
        <p:nvSpPr>
          <p:cNvPr id="69" name="Text 54"/>
          <p:cNvSpPr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list and record counts read directly from the report's underlying data model (table: Covid_SQL).</a:t>
            </a:r>
            <a:endParaRPr lang="en-US" sz="1000" dirty="0"/>
          </a:p>
        </p:txBody>
      </p:sp>
      <p:sp>
        <p:nvSpPr>
          <p:cNvPr id="70" name="Text 55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71" name="Text 56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Data Cleaning &amp; Transformation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data-quality issues identified in the raw dataset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807312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EDF1FB"/>
          </a:solidFill>
          <a:ln/>
        </p:spPr>
      </p:sp>
      <p:sp>
        <p:nvSpPr>
          <p:cNvPr id="5" name="Shape 3"/>
          <p:cNvSpPr/>
          <p:nvPr/>
        </p:nvSpPr>
        <p:spPr>
          <a:xfrm>
            <a:off x="2301088" y="154533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9469" y="1673718"/>
            <a:ext cx="237012" cy="237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07312" y="213055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COVID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88640" y="1673352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581248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ED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4075024" y="154533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bro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405" y="1673718"/>
            <a:ext cx="237012" cy="2370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1248" y="213055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062576" y="1673352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355184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EDF1FB"/>
          </a:solidFill>
          <a:ln/>
        </p:spPr>
      </p:sp>
      <p:sp>
        <p:nvSpPr>
          <p:cNvPr id="15" name="Shape 11"/>
          <p:cNvSpPr/>
          <p:nvPr/>
        </p:nvSpPr>
        <p:spPr>
          <a:xfrm>
            <a:off x="5848960" y="154533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exchan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341" y="1673718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55184" y="213055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836512" y="1673352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129120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EDF1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622896" y="1545336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1277" y="1673718"/>
            <a:ext cx="237012" cy="2370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29120" y="213055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10448" y="1673352"/>
            <a:ext cx="2926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8903056" y="1417320"/>
            <a:ext cx="1481328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9396832" y="1545336"/>
            <a:ext cx="493776" cy="49377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/home/claude/icons/chartbar_1E276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213" y="1673718"/>
            <a:ext cx="237012" cy="2370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03056" y="2130552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640080" y="2926080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EDF1FB"/>
          </a:solidFill>
          <a:ln/>
        </p:spPr>
      </p:sp>
      <p:sp>
        <p:nvSpPr>
          <p:cNvPr id="29" name="Shape 22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/home/claude/icons/calend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227832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417320" y="306324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1417320" y="336499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of 5,160 rows used non-ISO formats (e.g. DD/MM/YYYY, "25 Sep 2022", MM-DD-YYYY) alongside the standard YYYY-MM-DD - standardised in SQL before analysis.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126480" y="2926080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EDF1FB"/>
          </a:solidFill>
          <a:ln/>
        </p:spPr>
      </p:sp>
      <p:sp>
        <p:nvSpPr>
          <p:cNvPr id="34" name="Shape 26"/>
          <p:cNvSpPr/>
          <p:nvPr/>
        </p:nvSpPr>
        <p:spPr>
          <a:xfrm>
            <a:off x="6309360" y="3108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6" descr="/home/claude/icons/glob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8232" y="3227832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903720" y="306324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Country Naming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903720" y="336499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countries appeared under two labels (e.g. "UK" and "United Kingdom", "USA" and "United States", "Republic of Korea" and "South Korea") - merged in SQL for accurate country-level totals.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40080" y="4434840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EDF1FB"/>
          </a:solidFill>
          <a:ln/>
        </p:spPr>
      </p:sp>
      <p:sp>
        <p:nvSpPr>
          <p:cNvPr id="39" name="Shape 30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7" descr="/home/claude/icons/check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4736592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417320" y="457200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or Missing Values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1417320" y="487375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0 duplicate rows and 0 missing values across all 14 columns once cleaning was complete.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6126480" y="4434840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EDF1FB"/>
          </a:solidFill>
          <a:ln/>
        </p:spPr>
      </p:sp>
      <p:sp>
        <p:nvSpPr>
          <p:cNvPr id="44" name="Shape 34"/>
          <p:cNvSpPr/>
          <p:nvPr/>
        </p:nvSpPr>
        <p:spPr>
          <a:xfrm>
            <a:off x="630936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5" name="Image 8" descr="/home/claude/icons/exchange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8232" y="4736592"/>
            <a:ext cx="219456" cy="21945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903720" y="457200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Date Fields</a:t>
            </a:r>
            <a:endParaRPr lang="en-US" sz="1250" dirty="0"/>
          </a:p>
        </p:txBody>
      </p:sp>
      <p:sp>
        <p:nvSpPr>
          <p:cNvPr id="47" name="Text 36"/>
          <p:cNvSpPr/>
          <p:nvPr/>
        </p:nvSpPr>
        <p:spPr>
          <a:xfrm>
            <a:off x="6903720" y="4873752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Month Name, Quarter and Day Name were all calculated in SQL from the Date column to support time-based analysis.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49" name="Text 38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95628" y="17830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6313" y="1963765"/>
            <a:ext cx="333573" cy="3335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97280" y="3127248"/>
            <a:ext cx="1691640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29184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and calculations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0268" y="17830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clou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953" y="1963765"/>
            <a:ext cx="333573" cy="3335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3931920" y="3127248"/>
            <a:ext cx="1691640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49040" y="329184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workspace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management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0936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7264908" y="1783080"/>
            <a:ext cx="694944" cy="69494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/home/claude/icons/chartbar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5593" y="1963765"/>
            <a:ext cx="333573" cy="33357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6766560" y="3127248"/>
            <a:ext cx="1691640" cy="0"/>
          </a:xfrm>
          <a:prstGeom prst="line">
            <a:avLst/>
          </a:prstGeom>
          <a:noFill/>
          <a:ln w="12700">
            <a:solidFill>
              <a:srgbClr val="44509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0" y="329184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and slicers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144000" y="1463040"/>
            <a:ext cx="2606040" cy="42976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CE3F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099548" y="1783080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/home/claude/icons/tab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0233" y="1963765"/>
            <a:ext cx="333573" cy="33357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0" y="26517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9601200" y="3127248"/>
            <a:ext cx="1691640" cy="0"/>
          </a:xfrm>
          <a:prstGeom prst="line">
            <a:avLst/>
          </a:prstGeom>
          <a:noFill/>
          <a:ln w="12700">
            <a:solidFill>
              <a:srgbClr val="DCE3F2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418320" y="3291840"/>
            <a:ext cx="2057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visualisations</a:t>
            </a:r>
            <a:endParaRPr lang="en-US" sz="12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250" dirty="0">
                <a:solidFill>
                  <a:srgbClr val="2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Visual 1: KPI Summary Cards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headline totals shown at the top of the Power BI report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231.8M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231,831,874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1.2M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0" y="3017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1,201,079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6364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 ADMISSIONS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3017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6,528,659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869680" y="155448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869680" y="1828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9006840" y="26974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ICU ADMISSIONS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69680" y="3017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1,531,411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10881360" cy="2331720"/>
          </a:xfrm>
          <a:prstGeom prst="roundRect">
            <a:avLst>
              <a:gd name="adj" fmla="val 2745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0448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343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224528"/>
            <a:ext cx="10104120" cy="472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5,160 records (Jan 2021 - Dec 2022), the dataset shows an implied case-fatality ratio of 0.52% (1,201,079 deaths from 231,831,874 cases).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" y="48615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742688"/>
            <a:ext cx="10104120" cy="472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admissions (6,528,659) represent 2.82% of all recorded cases.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14400" y="53797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5260848"/>
            <a:ext cx="10104120" cy="472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admissions make up 23.5% of hospital admissions - roughly 1 in every 4 hospitalised cases in this dataset required intensive care.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Visual 2: New Cases Over Time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- monthly total of New Cases, Jan 2021 to Dec 2022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8580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977640" cy="4754880"/>
          </a:xfrm>
          <a:prstGeom prst="roundRect">
            <a:avLst>
              <a:gd name="adj" fmla="val 160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0" y="161848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909560" y="2057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1938528"/>
            <a:ext cx="3200400" cy="9486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cases peaked in Jan 22 at 26.4M - the Omicron wave, the highest single month in the dataset.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909560" y="305181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138160" y="2932938"/>
            <a:ext cx="3200400" cy="9486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secondary peak occurred in Dec 2021 (23.5M) as Delta was still circulating just before Omicron took over.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09560" y="404622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3927348"/>
            <a:ext cx="3200400" cy="9486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fell sharply through 2022, reaching a low of just 184.8K in Dec 22 - about 1% of the January 2022 peak.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909560" y="504063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8138160" y="4921758"/>
            <a:ext cx="3200400" cy="9486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smaller mid-2021 rise is visible in Aug 2021 (18.5M), before the larger Dec 2021-Jan 2022 surge.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Visual 3: New Cases by Country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- top 10 countries by total New Cases (raw Country labels)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069080" cy="4754880"/>
          </a:xfrm>
          <a:prstGeom prst="roundRect">
            <a:avLst>
              <a:gd name="adj" fmla="val 157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184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18120" y="2057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93852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leads with 71.8M recorded cases - almost double China's 37.8M.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33832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326440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countries (India, China, Indonesia) account for roughly 54.5% of all cases in the full dataset.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47091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459028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field lists "United States", "USA", "United Kingdom", "UK", "South Korea" and "Republic of Korea" as separate labels - a naming inconsistency resolved in SQL for country-level reporting.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Visual 4: New Deaths by Country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- top 10 countries by total New Deaths (raw Country labels)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069080" cy="4754880"/>
          </a:xfrm>
          <a:prstGeom prst="roundRect">
            <a:avLst>
              <a:gd name="adj" fmla="val 157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184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18120" y="2057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93852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recorded the most deaths (387.3K) - over 3x the next-highest, Indonesia (115.9K).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33832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326440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ranks 5th for deaths despite ranking 2nd for cases - a comparatively lower recorded fatality share.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47091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459028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sits 10th on this deaths list despite ranking 5th on cases, showing raw case volume alone doesn't predict death toll.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Visual 5: Hospital &amp; ICU Admissions by Country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chart - top 10 countries, cleaned country labels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069080" cy="4754880"/>
          </a:xfrm>
          <a:prstGeom prst="roundRect">
            <a:avLst>
              <a:gd name="adj" fmla="val 157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184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18120" y="2057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93852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hospital admissions (2.0M) are nearly double China's (1.0M), consistent with its lead in total cases.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33832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326440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these top 10 countries, ICU admissions average 23.3% of hospital admissions - a fairly stable severity ratio.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47091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459028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ranks 2nd for hospital and ICU admissions despite recording fewer deaths than several lower-case countries, again pointing to differences in reported outcomes by country.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Visual 6: New Cases by Quarter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- share of total New Cases by calendar quarter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188720" y="1554480"/>
          <a:ext cx="5486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14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0" y="17556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0" y="21945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7543800" y="2075688"/>
            <a:ext cx="379476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accounts for the largest share of cases (30.3%) - driven by the January 2022 Omicron peak identified in the trend chart.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0" y="34594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3340608"/>
            <a:ext cx="379476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is consistently the quietest period (15.8% of cases), aligning with the April-May troughs seen in the monthly trend.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0" y="4724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7543800" y="4605528"/>
            <a:ext cx="3794760" cy="121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and Q4 combined still account for over half of all cases (53.8%), showing case activity stayed substantial across the second half of the year.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Visual 7: New Deaths by Dominant Variant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- total New Deaths grouped by the period's dominant COVID-19 variant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417320"/>
            <a:ext cx="4069080" cy="4754880"/>
          </a:xfrm>
          <a:prstGeom prst="roundRect">
            <a:avLst>
              <a:gd name="adj" fmla="val 1573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16184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818120" y="205740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93852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caused the most deaths overall (670.4K, 55.8% of the total) despite driving fewer cases (82.7M) than Omicron (90.4M).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338328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326440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Omicron periods combined drove 115.1M cases (about half of all recorded cases) but only 19.4% of deaths.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18120" y="4709160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459028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Alpha, the earliest dominant variant here, caused 24.7% of deaths from just 34.1M cases - a higher deaths-per-case share than either Omicron period.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Dashboard 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visuals together, exactly as they appear on the single-page Power BI report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5257800"/>
          </a:xfrm>
          <a:prstGeom prst="roundRect">
            <a:avLst>
              <a:gd name="adj" fmla="val 870"/>
            </a:avLst>
          </a:prstGeom>
          <a:solidFill>
            <a:srgbClr val="0F16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COVID-19 TRENDS &amp; HEALTHCARE IMPACT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2642616" cy="640080"/>
          </a:xfrm>
          <a:prstGeom prst="roundRect">
            <a:avLst>
              <a:gd name="adj" fmla="val 4286"/>
            </a:avLst>
          </a:prstGeom>
          <a:solidFill>
            <a:srgbClr val="1B2358"/>
          </a:solidFill>
          <a:ln w="6350">
            <a:solidFill>
              <a:srgbClr val="3943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92224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231.8M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2642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01568" y="1737360"/>
            <a:ext cx="2642616" cy="640080"/>
          </a:xfrm>
          <a:prstGeom prst="roundRect">
            <a:avLst>
              <a:gd name="adj" fmla="val 4286"/>
            </a:avLst>
          </a:prstGeom>
          <a:solidFill>
            <a:srgbClr val="1B2358"/>
          </a:solidFill>
          <a:ln w="6350">
            <a:solidFill>
              <a:srgbClr val="3943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792224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01568" y="2121408"/>
            <a:ext cx="2642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DEATHS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117336" y="1737360"/>
            <a:ext cx="2642616" cy="640080"/>
          </a:xfrm>
          <a:prstGeom prst="roundRect">
            <a:avLst>
              <a:gd name="adj" fmla="val 4286"/>
            </a:avLst>
          </a:prstGeom>
          <a:solidFill>
            <a:srgbClr val="1B2358"/>
          </a:solidFill>
          <a:ln w="6350">
            <a:solidFill>
              <a:srgbClr val="3943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17336" y="1792224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17336" y="2121408"/>
            <a:ext cx="2642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ICU ADMISSIONS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833104" y="1737360"/>
            <a:ext cx="2642616" cy="640080"/>
          </a:xfrm>
          <a:prstGeom prst="roundRect">
            <a:avLst>
              <a:gd name="adj" fmla="val 4286"/>
            </a:avLst>
          </a:prstGeom>
          <a:solidFill>
            <a:srgbClr val="1B2358"/>
          </a:solidFill>
          <a:ln w="6350">
            <a:solidFill>
              <a:srgbClr val="3943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33104" y="1792224"/>
            <a:ext cx="26426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33104" y="2121408"/>
            <a:ext cx="26426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HOSPITAL ADMISSIONS</a:t>
            </a:r>
            <a:endParaRPr lang="en-US" sz="7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85800" y="2487168"/>
          <a:ext cx="107899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Chart 1" descr=""/>
          <p:cNvGraphicFramePr/>
          <p:nvPr/>
        </p:nvGraphicFramePr>
        <p:xfrm>
          <a:off x="685800" y="3785616"/>
          <a:ext cx="53492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0" name="Chart 2" descr=""/>
          <p:cNvGraphicFramePr/>
          <p:nvPr/>
        </p:nvGraphicFramePr>
        <p:xfrm>
          <a:off x="6126480" y="3785616"/>
          <a:ext cx="534924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1" name="Chart 3" descr=""/>
          <p:cNvGraphicFramePr/>
          <p:nvPr/>
        </p:nvGraphicFramePr>
        <p:xfrm>
          <a:off x="685800" y="5221224"/>
          <a:ext cx="3394253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 16"/>
          <p:cNvSpPr/>
          <p:nvPr/>
        </p:nvSpPr>
        <p:spPr>
          <a:xfrm>
            <a:off x="4171493" y="5221224"/>
            <a:ext cx="21214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by Quarter</a:t>
            </a:r>
            <a:endParaRPr lang="en-US" sz="700" dirty="0"/>
          </a:p>
        </p:txBody>
      </p:sp>
      <p:graphicFrame>
        <p:nvGraphicFramePr>
          <p:cNvPr id="23" name="Chart 4" descr=""/>
          <p:cNvGraphicFramePr/>
          <p:nvPr/>
        </p:nvGraphicFramePr>
        <p:xfrm>
          <a:off x="4171493" y="5404104"/>
          <a:ext cx="2121408" cy="932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24" name="Chart 5" descr=""/>
          <p:cNvGraphicFramePr/>
          <p:nvPr/>
        </p:nvGraphicFramePr>
        <p:xfrm>
          <a:off x="6384341" y="5221224"/>
          <a:ext cx="5091379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Text 17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Skills Demonstrated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" y="1426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545336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53312" y="1399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6384" y="1956816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queries for cleaning, transformation and analysis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92424" y="128016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9" name="Shape 6"/>
          <p:cNvSpPr/>
          <p:nvPr/>
        </p:nvSpPr>
        <p:spPr>
          <a:xfrm>
            <a:off x="3538728" y="1426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icons/broom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4533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05656" y="1399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38728" y="1956816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103 mixed-format dates and merged country-name aliases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44768" y="128016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291072" y="1426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icons/exchan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54533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8000" y="1399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91072" y="1956816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calculated and date-derived fields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897112" y="128016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19" name="Shape 14"/>
          <p:cNvSpPr/>
          <p:nvPr/>
        </p:nvSpPr>
        <p:spPr>
          <a:xfrm>
            <a:off x="9043416" y="14264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icons/sear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1545336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10344" y="13990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043416" y="1956816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trends across time, geography and variant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40080" y="2862072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24" name="Shape 18"/>
          <p:cNvSpPr/>
          <p:nvPr/>
        </p:nvSpPr>
        <p:spPr>
          <a:xfrm>
            <a:off x="786384" y="3008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home/claude/icons/clou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127248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53312" y="29809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786384" y="3538728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datasets in a SQL workspace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3392424" y="2862072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29" name="Shape 22"/>
          <p:cNvSpPr/>
          <p:nvPr/>
        </p:nvSpPr>
        <p:spPr>
          <a:xfrm>
            <a:off x="3538728" y="3008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/home/claude/icons/chartba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3127248"/>
            <a:ext cx="219456" cy="2194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105656" y="29809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3538728" y="3538728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interactive analytical dashboard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6144768" y="2862072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34" name="Shape 26"/>
          <p:cNvSpPr/>
          <p:nvPr/>
        </p:nvSpPr>
        <p:spPr>
          <a:xfrm>
            <a:off x="6291072" y="3008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6" descr="/home/claude/icons/tabl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3127248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858000" y="29809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291072" y="3538728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visualisation and exploration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8897112" y="2862072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39" name="Shape 30"/>
          <p:cNvSpPr/>
          <p:nvPr/>
        </p:nvSpPr>
        <p:spPr>
          <a:xfrm>
            <a:off x="9043416" y="30083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0" name="Image 7" descr="/home/claude/icons/chartpi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2288" y="3127248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610344" y="298094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9043416" y="3538728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findings through charts and KPIs</a:t>
            </a:r>
            <a:endParaRPr lang="en-US" sz="950" dirty="0"/>
          </a:p>
        </p:txBody>
      </p:sp>
      <p:sp>
        <p:nvSpPr>
          <p:cNvPr id="43" name="Shape 33"/>
          <p:cNvSpPr/>
          <p:nvPr/>
        </p:nvSpPr>
        <p:spPr>
          <a:xfrm>
            <a:off x="640080" y="4443984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44" name="Shape 34"/>
          <p:cNvSpPr/>
          <p:nvPr/>
        </p:nvSpPr>
        <p:spPr>
          <a:xfrm>
            <a:off x="786384" y="4590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5" name="Image 8" descr="/home/claude/icons/layers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5256" y="4709160"/>
            <a:ext cx="219456" cy="21945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353312" y="45628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250" dirty="0"/>
          </a:p>
        </p:txBody>
      </p:sp>
      <p:sp>
        <p:nvSpPr>
          <p:cNvPr id="47" name="Text 36"/>
          <p:cNvSpPr/>
          <p:nvPr/>
        </p:nvSpPr>
        <p:spPr>
          <a:xfrm>
            <a:off x="786384" y="5120640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clear, filterable report layout</a:t>
            </a:r>
            <a:endParaRPr lang="en-US" sz="950" dirty="0"/>
          </a:p>
        </p:txBody>
      </p:sp>
      <p:sp>
        <p:nvSpPr>
          <p:cNvPr id="48" name="Shape 37"/>
          <p:cNvSpPr/>
          <p:nvPr/>
        </p:nvSpPr>
        <p:spPr>
          <a:xfrm>
            <a:off x="3392424" y="4443984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49" name="Shape 38"/>
          <p:cNvSpPr/>
          <p:nvPr/>
        </p:nvSpPr>
        <p:spPr>
          <a:xfrm>
            <a:off x="3538728" y="4590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0" name="Image 9" descr="/home/claude/icons/calendar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7600" y="4709160"/>
            <a:ext cx="219456" cy="219456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4105656" y="45628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250" dirty="0"/>
          </a:p>
        </p:txBody>
      </p:sp>
      <p:sp>
        <p:nvSpPr>
          <p:cNvPr id="52" name="Text 40"/>
          <p:cNvSpPr/>
          <p:nvPr/>
        </p:nvSpPr>
        <p:spPr>
          <a:xfrm>
            <a:off x="3538728" y="5120640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the Omicron and Delta wave peaks</a:t>
            </a:r>
            <a:endParaRPr lang="en-US" sz="950" dirty="0"/>
          </a:p>
        </p:txBody>
      </p:sp>
      <p:sp>
        <p:nvSpPr>
          <p:cNvPr id="53" name="Shape 41"/>
          <p:cNvSpPr/>
          <p:nvPr/>
        </p:nvSpPr>
        <p:spPr>
          <a:xfrm>
            <a:off x="6144768" y="4443984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DF1FB"/>
          </a:solidFill>
          <a:ln/>
        </p:spPr>
      </p:sp>
      <p:sp>
        <p:nvSpPr>
          <p:cNvPr id="54" name="Shape 42"/>
          <p:cNvSpPr/>
          <p:nvPr/>
        </p:nvSpPr>
        <p:spPr>
          <a:xfrm>
            <a:off x="6291072" y="459028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5" name="Image 10" descr="/home/claude/icons/brain_FFFFF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9944" y="4709160"/>
            <a:ext cx="219456" cy="219456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6858000" y="456285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Thinking</a:t>
            </a:r>
            <a:endParaRPr lang="en-US" sz="1250" dirty="0"/>
          </a:p>
        </p:txBody>
      </p:sp>
      <p:sp>
        <p:nvSpPr>
          <p:cNvPr id="57" name="Text 44"/>
          <p:cNvSpPr/>
          <p:nvPr/>
        </p:nvSpPr>
        <p:spPr>
          <a:xfrm>
            <a:off x="6291072" y="5120640"/>
            <a:ext cx="23134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case, death and variant patterns</a:t>
            </a:r>
            <a:endParaRPr lang="en-US" sz="950" dirty="0"/>
          </a:p>
        </p:txBody>
      </p:sp>
      <p:sp>
        <p:nvSpPr>
          <p:cNvPr id="58" name="Text 45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59" name="Text 46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68680" y="1517904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7160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5,160 COVID-19 records across 53 country labels and 14 fields, from January 2021 to December 2022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359152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212848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SQL to clean and transform the raw data - fixing mixed date formats, merging inconsistent country names, and building calculated date fields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68680" y="3200400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054096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Databricks to manage and process the dataset in a SQL workspace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041648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895344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the January 2022 Omicron wave drove the highest monthly case total (26.4M), while Delta caused the most deaths overall despite fewer total cases than Omicron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4882896"/>
            <a:ext cx="118872" cy="118872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736592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Power BI dashboard with KPI cards, trend lines and country comparisons to communicate these findings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5623560"/>
            <a:ext cx="4114800" cy="0"/>
          </a:xfrm>
          <a:prstGeom prst="line">
            <a:avLst/>
          </a:prstGeom>
          <a:noFill/>
          <a:ln w="12700">
            <a:solidFill>
              <a:srgbClr val="3C4A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7607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“Turning raw data into meaningful insights.”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Dashboard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7295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737360"/>
            <a:ext cx="914400" cy="914400"/>
          </a:xfrm>
          <a:prstGeom prst="ellipse">
            <a:avLst/>
          </a:prstGeom>
          <a:solidFill>
            <a:srgbClr val="26317A"/>
          </a:solidFill>
          <a:ln/>
        </p:spPr>
      </p:sp>
      <p:pic>
        <p:nvPicPr>
          <p:cNvPr id="3" name="Image 0" descr="/home/claude/icons/chartline_CADCF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392" y="197510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Ethaba Mhlongo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2026-09-28T08:44:49Z</dcterms:created>
  <dcterms:modified xsi:type="dcterms:W3CDTF">2026-09-28T08:44:49Z</dcterms:modified>
</cp:coreProperties>
</file>